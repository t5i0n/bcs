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ableStyles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solidFill>
            <a:schemeClr val="tx1"/>
          </a:solidFill>
          <a:latin typeface="+mj-lt"/>
        </a:defRPr>
      </a:lvl1pPr>
    </p:titleStyle>
    <p:bodyStyle>
      <a:lvl1pPr>
        <a:defRPr sz="2800">
          <a:solidFill>
            <a:schemeClr val="tx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822960" y="658368"/>
            <a:ext cx="10515600" cy="4114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A9673A"/>
                </a:solidFill>
                <a:latin typeface="Calibri"/>
              </a:rPr>
              <a:t>PRACTICAL ATTACHMENT PRESENTATION</a:t>
            </a:r>
          </a:p>
        </p:txBody>
      </p:sp>
      <p:sp>
        <p:nvSpPr>
          <p:cNvPr id="4" name="rc4"/>
          <p:cNvSpPr/>
          <p:nvPr/>
        </p:nvSpPr>
        <p:spPr>
          <a:xfrm>
            <a:off x="822960" y="1152144"/>
            <a:ext cx="2468880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822960" y="1371600"/>
            <a:ext cx="10698480" cy="16002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FFFFFF"/>
                </a:solidFill>
                <a:latin typeface="Georgia"/>
              </a:rPr>
              <a:t>Development of a Full-Stack Web Application</a:t>
            </a:r>
          </a:p>
        </p:txBody>
      </p:sp>
      <p:sp>
        <p:nvSpPr>
          <p:cNvPr id="6" name="tb6"/>
          <p:cNvSpPr txBox="1"/>
          <p:nvPr/>
        </p:nvSpPr>
        <p:spPr>
          <a:xfrm>
            <a:off x="822960" y="2971800"/>
            <a:ext cx="10698480" cy="5486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dirty="0">
                <a:solidFill>
                  <a:srgbClr val="E8DED2"/>
                </a:solidFill>
                <a:latin typeface="Calibri"/>
              </a:rPr>
              <a:t>A corporate website for BCS Coffee Market Consulting</a:t>
            </a:r>
          </a:p>
        </p:txBody>
      </p:sp>
      <p:sp>
        <p:nvSpPr>
          <p:cNvPr id="7" name="tb7"/>
          <p:cNvSpPr txBox="1"/>
          <p:nvPr/>
        </p:nvSpPr>
        <p:spPr>
          <a:xfrm>
            <a:off x="822960" y="4069080"/>
            <a:ext cx="10698480" cy="21945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Tsion Tesfaye  ·  Student ID 3725/16</a:t>
            </a:r>
          </a:p>
          <a:p>
            <a:pPr marL="0" algn="l" lvl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</a:rPr>
              <a:t>Department of Information Systems  ·  Faculty of Informatics  ·  Hawassa University</a:t>
            </a:r>
          </a:p>
          <a:p>
            <a:pPr marL="0" algn="l" lvl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</a:rPr>
              <a:t>Host: BCS Computer and Finance Solution — Web Development Section</a:t>
            </a:r>
          </a:p>
          <a:p>
            <a:pPr marL="0" algn="l" lvl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</a:rPr>
              <a:t>Company Mentor: Bekure Yimam, Owner &amp; Managing Director</a:t>
            </a:r>
          </a:p>
          <a:p>
            <a:pPr marL="0" algn="l" lvl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</a:rPr>
              <a:t>Attachment Period: June 23 – August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Presentation Outline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85800" y="1600200"/>
            <a:ext cx="10881360" cy="46634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1.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Background of the hosting company</a:t>
            </a:r>
          </a:p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2.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My attachment experience, section and workflow</a:t>
            </a:r>
          </a:p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3.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Work tasks, procedures and performance</a:t>
            </a:r>
          </a:p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4.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The developed system — features and architecture</a:t>
            </a:r>
          </a:p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5.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Website screenshots (figures from the report)</a:t>
            </a:r>
          </a:p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6.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Challenges encountered and measures taken</a:t>
            </a:r>
          </a:p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7.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Benefits gained — technical, theoretical and professional</a:t>
            </a:r>
          </a:p>
          <a:p>
            <a:pPr marL="500000" indent="-50000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A9673A"/>
                </a:solidFill>
                <a:latin typeface="Calibri"/>
              </a:rPr>
              <a:t>8.   </a:t>
            </a:r>
            <a:r>
              <a:rPr lang="en-US" sz="1900" b="0" i="0" dirty="0">
                <a:solidFill>
                  <a:srgbClr val="2B2B2B"/>
                </a:solidFill>
                <a:latin typeface="Calibri"/>
              </a:rPr>
              <a:t>Conclusion and recommendations</a:t>
            </a:r>
          </a:p>
        </p:txBody>
      </p:sp>
      <p:sp>
        <p:nvSpPr>
          <p:cNvPr id="6" name="rc6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Background of the Hosting Company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0F2A43"/>
                </a:solidFill>
                <a:latin typeface="Georgia"/>
              </a:rPr>
              <a:t>BCS Computer and Finance Solution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Information technology and business consulting company and training institution located in Addis Ababa, Ethiopia.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Professional services in information technology, software development, computer training, and business and finance consulting.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Main service areas: professional training (programming, engineering, accounting and design packages), software and web development, graphics and multimedia, IT and financial/IFRS consulting, accounting and ERP systems, technical maintenance and sales of computers and accessories.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Also operates BCS Coffee Market Consulting — an affiliated coffee exporting and consulting firm, for which this website was developed.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Customers: students and trainees, small and medium-sized businesses, and organizations requiring IT, software or consulting services.</a:t>
            </a:r>
          </a:p>
        </p:txBody>
      </p:sp>
      <p:sp>
        <p:nvSpPr>
          <p:cNvPr id="6" name="rc6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BCS Coffee Market Consulting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640080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0F2A43"/>
                </a:solidFill>
                <a:latin typeface="Georgia"/>
              </a:rPr>
              <a:t>BCS Coffee Market Consulting — Brief History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2009 — Founded in Addis Ababa as a local broker linking coffee producers and roasters.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2014 — Began exporting to the European, Asian and Middle Eastern markets.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2019 — Formed relationships with over 100 exporters and built a verified network across Ethiopia's primary coffee-growing regions.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2024 — Expanded operations into international coffee consulting, serving buyers across 40+ countries.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Owned and led by Bekure Yimam, Owner and Managing Director.</a:t>
            </a:r>
          </a:p>
        </p:txBody>
      </p:sp>
      <p:sp>
        <p:nvSpPr>
          <p:cNvPr id="6" name="rc6"/>
          <p:cNvSpPr/>
          <p:nvPr/>
        </p:nvSpPr>
        <p:spPr>
          <a:xfrm>
            <a:off x="7315200" y="1508760"/>
            <a:ext cx="4343400" cy="475488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7498079" y="1645920"/>
            <a:ext cx="4023360" cy="448056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0F2A43"/>
                </a:solidFill>
                <a:latin typeface="Georgia"/>
              </a:rPr>
              <a:t>Consulting Services for International Buyers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1" dirty="0">
                <a:solidFill>
                  <a:srgbClr val="2B2B2B"/>
                </a:solidFill>
                <a:latin typeface="Calibri"/>
              </a:rPr>
              <a:t>Seven core consulting services guiding buyers through the export and sourcing process (company profile):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Coffee export consulting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Coffee certificate consulting and verification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Quality control and grading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Market research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Logistics coordination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Pricing negotiation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Support across sourcing requirements, certification and compliance, supplier vetting, market information, export logistics and origin-based transparent pricing.</a:t>
            </a:r>
          </a:p>
        </p:txBody>
      </p:sp>
      <p:sp>
        <p:nvSpPr>
          <p:cNvPr id="8" name="rc8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b9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Organization and Workflow of the Company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Team Structure — Four Main Members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Bekure Yimam — Owner &amp; Managing Director: general management, coffee consulting, corporate strategy, marketing, finance and IFRS consulting, export/import consulting, and relations with clients, suppliers and partners of the business.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Rose Ahmed — Coffee Documentation Officer: prepares documents and records for coffee samples and international shipments; supports export documentation.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Ferehiwot Dires — Finance Officer: payments, receipts and expenses, bookkeeping, accounting and budgeting; maintains financial records.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Zehara Bedru — Coffee Sample Processing &amp; Office Support Officer: processes, filters, sorts and pre-screens coffee samples for cupping; performs secretarial and assigned office tasks.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Workflow of the Company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Begins with a client or international buyer providing requirements: volume, grade, origin, profile and certifications.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The right coffee sources are identified with A and B grading.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Table cupping quality control: tasting by grading, connoisseurship in cup, and aroma analysis.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Bekure Yimam provides market information, pricing and sourcing advice.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Relationship and deal management plus coffee export coordination support the buyer in getting the right Ethiopian coffee.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How I Joined and the Section I Worked In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How I Got into the Company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Contacted BCS Computer and Finance Solution directly and asked whether I could complete my practical attachment there.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Introduced myself as an Information Systems student, explained my existing technical skills, and expressed my goal to enhance them and acquire new knowledge in web development.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After discussing my background and learning goals, the company accepted me for a training placement in the Web Development section.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The Owner and Managing Director agreed to act as my mentor and oversee the placement.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The Section I Worked In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Joined the technology and web development department of BCS Computer and Finance Solution.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Because of the small size of the organization, there was no formal IT department.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Main involvement: development of the web system for BCS Coffee Market Consulting.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Worked closely with my mentor, who supplied the business requirements, company services and activities, content direction and branding preferences for the website.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Workflow of the Section — Six Phases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c5"/>
          <p:cNvSpPr/>
          <p:nvPr/>
        </p:nvSpPr>
        <p:spPr>
          <a:xfrm>
            <a:off x="594360" y="1481328"/>
            <a:ext cx="3566160" cy="21945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c6"/>
          <p:cNvSpPr/>
          <p:nvPr/>
        </p:nvSpPr>
        <p:spPr>
          <a:xfrm>
            <a:off x="594360" y="1481328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722376" y="1591056"/>
            <a:ext cx="3310128" cy="20116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0F2A43"/>
                </a:solidFill>
                <a:latin typeface="Georgia"/>
              </a:rPr>
              <a:t>Phase 1 — Requirement Understanding</a:t>
            </a:r>
          </a:p>
          <a:p>
            <a:pPr marL="0" algn="l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A9673A"/>
                </a:solidFill>
                <a:latin typeface="Calibri"/>
              </a:rPr>
              <a:t>June 23–27, 2026</a:t>
            </a:r>
          </a:p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.0" b="0" i="0" dirty="0">
                <a:solidFill>
                  <a:srgbClr val="2B2B2B"/>
                </a:solidFill>
                <a:latin typeface="Calibri"/>
              </a:rPr>
              <a:t>Familiarized with the company, its services, coffee production stages, origins and sector terms; discussed website contents, users and business requirements before programming.</a:t>
            </a:r>
          </a:p>
        </p:txBody>
      </p:sp>
      <p:sp>
        <p:nvSpPr>
          <p:cNvPr id="8" name="rc8"/>
          <p:cNvSpPr/>
          <p:nvPr/>
        </p:nvSpPr>
        <p:spPr>
          <a:xfrm>
            <a:off x="4389120" y="1481328"/>
            <a:ext cx="3566160" cy="21945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c9"/>
          <p:cNvSpPr/>
          <p:nvPr/>
        </p:nvSpPr>
        <p:spPr>
          <a:xfrm>
            <a:off x="4389120" y="1481328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10"/>
          <p:cNvSpPr txBox="1"/>
          <p:nvPr/>
        </p:nvSpPr>
        <p:spPr>
          <a:xfrm>
            <a:off x="4517136" y="1591056"/>
            <a:ext cx="3310128" cy="20116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0F2A43"/>
                </a:solidFill>
                <a:latin typeface="Georgia"/>
              </a:rPr>
              <a:t>Phase 2 — Project Setup &amp; Initial Development</a:t>
            </a:r>
          </a:p>
          <a:p>
            <a:pPr marL="0" algn="l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A9673A"/>
                </a:solidFill>
                <a:latin typeface="Calibri"/>
              </a:rPr>
              <a:t>June 27 – July 7, 2026</a:t>
            </a:r>
          </a:p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.0" b="0" i="0" dirty="0">
                <a:solidFill>
                  <a:srgbClr val="2B2B2B"/>
                </a:solidFill>
                <a:latin typeface="Calibri"/>
              </a:rPr>
              <a:t>Learned React, Vite, TypeScript and Tailwind CSS basics; initialized the project, defined its structure and set up routing, layout, navigation bar, footer and first pages.</a:t>
            </a:r>
          </a:p>
        </p:txBody>
      </p:sp>
      <p:sp>
        <p:nvSpPr>
          <p:cNvPr id="11" name="rc11"/>
          <p:cNvSpPr/>
          <p:nvPr/>
        </p:nvSpPr>
        <p:spPr>
          <a:xfrm>
            <a:off x="8183879" y="1481328"/>
            <a:ext cx="3566160" cy="21945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c12"/>
          <p:cNvSpPr/>
          <p:nvPr/>
        </p:nvSpPr>
        <p:spPr>
          <a:xfrm>
            <a:off x="8183879" y="1481328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8311896" y="1591056"/>
            <a:ext cx="3310128" cy="20116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0F2A43"/>
                </a:solidFill>
                <a:latin typeface="Georgia"/>
              </a:rPr>
              <a:t>Phase 3 — Main Page Development</a:t>
            </a:r>
          </a:p>
          <a:p>
            <a:pPr marL="0" algn="l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A9673A"/>
                </a:solidFill>
                <a:latin typeface="Calibri"/>
              </a:rPr>
              <a:t>July 7–16, 2026</a:t>
            </a:r>
          </a:p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.0" b="0" i="0" dirty="0">
                <a:solidFill>
                  <a:srgbClr val="2B2B2B"/>
                </a:solidFill>
                <a:latin typeface="Calibri"/>
              </a:rPr>
              <a:t>Built Home, About, Services, Origins, From the Field, Our Team and Contact pages with reusable layout, footer and navigation — designed to be responsive on all screen sizes.</a:t>
            </a:r>
          </a:p>
        </p:txBody>
      </p:sp>
      <p:sp>
        <p:nvSpPr>
          <p:cNvPr id="14" name="rc14"/>
          <p:cNvSpPr/>
          <p:nvPr/>
        </p:nvSpPr>
        <p:spPr>
          <a:xfrm>
            <a:off x="594360" y="3877056"/>
            <a:ext cx="3566160" cy="21945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c15"/>
          <p:cNvSpPr/>
          <p:nvPr/>
        </p:nvSpPr>
        <p:spPr>
          <a:xfrm>
            <a:off x="594360" y="3877056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722376" y="3986784"/>
            <a:ext cx="3310128" cy="20116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0F2A43"/>
                </a:solidFill>
                <a:latin typeface="Georgia"/>
              </a:rPr>
              <a:t>Phase 4 — Content Integration &amp; Refinement</a:t>
            </a:r>
          </a:p>
          <a:p>
            <a:pPr marL="0" algn="l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A9673A"/>
                </a:solidFill>
                <a:latin typeface="Calibri"/>
              </a:rPr>
              <a:t>July 16–27, 2026</a:t>
            </a:r>
          </a:p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.0" b="0" i="0" dirty="0">
                <a:solidFill>
                  <a:srgbClr val="2B2B2B"/>
                </a:solidFill>
                <a:latin typeface="Calibri"/>
              </a:rPr>
              <a:t>Revised pages with company information, services and contact details; adjusted layouts per client requirements; removed or changed content as requested.</a:t>
            </a:r>
          </a:p>
        </p:txBody>
      </p:sp>
      <p:sp>
        <p:nvSpPr>
          <p:cNvPr id="17" name="rc17"/>
          <p:cNvSpPr/>
          <p:nvPr/>
        </p:nvSpPr>
        <p:spPr>
          <a:xfrm>
            <a:off x="4389120" y="3877056"/>
            <a:ext cx="3566160" cy="21945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c18"/>
          <p:cNvSpPr/>
          <p:nvPr/>
        </p:nvSpPr>
        <p:spPr>
          <a:xfrm>
            <a:off x="4389120" y="3877056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b19"/>
          <p:cNvSpPr txBox="1"/>
          <p:nvPr/>
        </p:nvSpPr>
        <p:spPr>
          <a:xfrm>
            <a:off x="4517136" y="3986784"/>
            <a:ext cx="3310128" cy="20116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0F2A43"/>
                </a:solidFill>
                <a:latin typeface="Georgia"/>
              </a:rPr>
              <a:t>Phase 5 — Feature Development &amp; Improvements</a:t>
            </a:r>
          </a:p>
          <a:p>
            <a:pPr marL="0" algn="l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A9673A"/>
                </a:solidFill>
                <a:latin typeface="Calibri"/>
              </a:rPr>
              <a:t>July 27 – August 7, 2026</a:t>
            </a:r>
          </a:p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.0" b="0" i="0" dirty="0">
                <a:solidFill>
                  <a:srgbClr val="2B2B2B"/>
                </a:solidFill>
                <a:latin typeface="Calibri"/>
              </a:rPr>
              <a:t>Added dark/light themes, a reusable contact form and the interactive Ethiopian coffee origins map; implemented SEO metadata, Open Graph tags, sitemap, accessibility and mobile navigation.</a:t>
            </a:r>
          </a:p>
        </p:txBody>
      </p:sp>
      <p:sp>
        <p:nvSpPr>
          <p:cNvPr id="20" name="rc20"/>
          <p:cNvSpPr/>
          <p:nvPr/>
        </p:nvSpPr>
        <p:spPr>
          <a:xfrm>
            <a:off x="8183879" y="3877056"/>
            <a:ext cx="3566160" cy="21945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c21"/>
          <p:cNvSpPr/>
          <p:nvPr/>
        </p:nvSpPr>
        <p:spPr>
          <a:xfrm>
            <a:off x="8183879" y="3877056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8311896" y="3986784"/>
            <a:ext cx="3310128" cy="20116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0F2A43"/>
                </a:solidFill>
                <a:latin typeface="Georgia"/>
              </a:rPr>
              <a:t>Phase 6 — Backend &amp; Contact Form Integration</a:t>
            </a:r>
          </a:p>
          <a:p>
            <a:pPr marL="0" algn="l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A9673A"/>
                </a:solidFill>
                <a:latin typeface="Calibri"/>
              </a:rPr>
              <a:t>August 7–22, 2026</a:t>
            </a:r>
          </a:p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.0" b="0" i="0" dirty="0">
                <a:solidFill>
                  <a:srgbClr val="2B2B2B"/>
                </a:solidFill>
                <a:latin typeface="Calibri"/>
              </a:rPr>
              <a:t>Built the backend so submitted messages are sent to the API and stored; continuous implement–test–fix and redesign cycles to meet the client's needs.</a:t>
            </a:r>
          </a:p>
        </p:txBody>
      </p:sp>
      <p:sp>
        <p:nvSpPr>
          <p:cNvPr id="23" name="rc23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Work Tasks Executed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Work Tasks I Executed (I)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Identifying the client's requirements and planning the project.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Learning about and applying new web development technologies (React, Vite, TypeScript, Tailwind CSS).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Developing the frontend application: pages, routing and reusable components.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Designing for responsiveness and styling for both dark and light themes.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Developing the interactive Ethiopian coffee origins map.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Work Tasks I Executed (II)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Implementing the contact form and integrating it with the backend.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Developing search engine optimisation (SEO) and accessibility enhancements.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Integrating website content and incorporating client feedback.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Testing, debugging and improving the application.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Applying Git version control throughout the development process.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Procedures Used While Performing Tasks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Planning and Building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1.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Analyze each requirement precisely — discuss with the mentor and gather information on the company, its services, clients, coffee products, contact details and branding choices.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2.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Learn the key points of each new technology through documentation and practice before coding.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3.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Plan the project structure, routing, reusable components, asset handling and styling.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4.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Code incrementally — base layout, then navigation, then individual pages and reusable components — checking that major parts work correctly each time.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Integrating and Delivering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5.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Integrate company information continuously; resolve ambiguous or incomplete information with the mentor before publishing it on the site.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6.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Add features progressively: responsive navigation, themes, interactive map, contact form, SEO and UI improvements.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7.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Test regularly — navigation, forms, responsive design, interactive features and screen sizes — then fix bugs and retest the affected features.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8.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Review the implementation with the mentor and incorporate feedback on content, layout and styles.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9.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Commit frequently with Git and GitHub to record progress and maintain versions.</a:t>
            </a:r>
          </a:p>
          <a:p>
            <a:pPr marL="450000" indent="-45000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A9673A"/>
                </a:solidFill>
                <a:latin typeface="Calibri"/>
              </a:rPr>
              <a:t>10.   </a:t>
            </a: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Final review of usability, responsiveness, consistency and functionality; fix remaining issues and polish.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Performance of Work Tasks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Successfully Implemented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The primary portions of the BCS Coffee Market Consulting website.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Page infrastructure, routing and reusable components.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Responsive design across screen sizes, with dark and light theme switching.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Contact form, SEO improvements and accessibility enhancements.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Flexible adaptation of content and layout to client feedback without disturbing the overall design.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How My Performance Developed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React, Vite and TypeScript were unfamiliar at first; competence was gained through self-education, practice, research and asking for help.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Biggest improvement: recognizing and troubleshooting technical issues independently — import statements, component rendering, Tailwind CSS effects and responsiveness errors.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Learned to analyze possible causes, research solutions, experiment with approaches and apply fixes.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Started knowing little about the technologies; finished by using them in a production system.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Overall improvement in technical, problem-solving, debugging and communication skills.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Challenges Encountered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Technical Challenges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New technologies (React, TypeScript, React Router, Tailwind CSS): import and routing errors, configuration issues and difficulty applying utility classes.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UI refinement: layout, spacing, typography and styling changes often failed to produce the expected results, requiring repeated testing and adjustment.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Backend integration: connecting the contact form required understanding form data, asynchronous requests, loading states and error handling.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Multi-language support: text direction, alignment, spacing and layout considerations for each language.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Large video files: media weight created performance and deployment concerns.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Project-Related Challenges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Changing requirements — for example, the planned blog section was later removed based on project requirements.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Some planned content and company information was ambiguous or incomplete and needed clarification.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Working on a real client project required continuous communication and adaptation to feedback.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Balancing flexible changes against keeping the rest of the system unaffected — modifications had to be made without breaking other parts of the application.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Measures Taken to Overcome Challenges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Technical Approach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Self-learning: official documentation, tutorials and sample code for React, TypeScript, React Router and Tailwind CSS.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Systematic debugging: analyze the error message, trace it to the exact code, make incremental changes and run the test after every change.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Applied newly learned concepts immediately in the project to consolidate knowledge.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Continuous testing across screen sizes, languages, themes and modes — checking responsiveness, alignment, spacing and text direction.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Media optimization: conscious selection of suitable image and video file sizes and formats.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Git version control with frequent commits to monitor changes, review old solutions and spot changes causing faults.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Guidance and Adaptation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Consulted the mentor whenever a problem could not be solved alone or requirements were unclear.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Discussed technical problems and content, style or design decisions, then implemented the agreed suggestions.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When requirements changed (e.g., removing the blog section), analyzed which parts of the application needed adjustment and adapted them.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Built a systematised problem approach: understand the problem, research solutions, test them, adapt to new requirements, and consult when necessary.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Result: problems that once blocked progress were resolved through a repeatable process — and the mentor confirmed the revised implementations met the requirements.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The Developed System — Features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Public Website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Seven pages: Home, About, Services, Origins, From the Field, Our Team and Contact.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Dark and light themes based on user and system preferences.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Interactive Ethiopian coffee origins map with a region information panel.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Contact form that sends submissions to the backend API for storage.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Multi-language content: English, Amharic, French and Chinese.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From the Field video gallery, scrolling partner logos and cookie consent.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Responsive layout with mobile navigation across screen sizes.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Admin Panel and Quality Attributes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Secure admin login with JWT authentication and bcryptjs password hashing.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Dashboard with statistics and quick actions.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CRUD management of coffee commodities, contact submissions, site content and settings.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SEO: metadata, Open Graph tags, sitemap.xml and robots.txt.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Accessibility: semantic HTML, heading structure, image alt texts, labels and ARIA tags.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Backend logging and environment-based configuration (.env / .env.example).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Architecture and Technology Stack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ct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0F2A43"/>
                </a:solidFill>
                <a:latin typeface="Georgia"/>
              </a:rPr>
              <a:t>React SPA   →   Express REST API   →   Prisma ORM   →   SQLite</a:t>
            </a:r>
          </a:p>
        </p:txBody>
      </p:sp>
      <p:graphicFrame>
        <p:nvGraphicFramePr>
          <p:cNvPr id="900" name="TechStack"/>
          <p:cNvGraphicFramePr/>
          <p:nvPr/>
        </p:nvGraphicFramePr>
        <p:xfrm>
          <a:off x="975207" y="2148840"/>
          <a:ext cx="1024128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365760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i="0" dirty="0">
                          <a:solidFill>
                            <a:srgbClr val="2B2B2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React, TypeScript, Vite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User interface and development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i="0" dirty="0">
                          <a:solidFill>
                            <a:srgbClr val="2B2B2B"/>
                          </a:solidFill>
                          <a:latin typeface="Calibri"/>
                        </a:rPr>
                        <a:t>Styling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Tailwind CSS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Responsive visual design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i="0" dirty="0">
                          <a:solidFill>
                            <a:srgbClr val="2B2B2B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React Router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Client-side navigation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i="0" dirty="0">
                          <a:solidFill>
                            <a:srgbClr val="2B2B2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Node.js, Express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REST API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i="0" dirty="0">
                          <a:solidFill>
                            <a:srgbClr val="2B2B2B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SQLite, Prisma ORM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Data storage and access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i="0" dirty="0">
                          <a:solidFill>
                            <a:srgbClr val="2B2B2B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JWT, bcryptjs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Secure admin authentication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C0B4"/>
                      </a:solidFill>
                      <a:prstDash val="solid"/>
                    </a:lnL>
                    <a:lnR w="9525" cap="flat" cmpd="sng" algn="ctr">
                      <a:solidFill>
                        <a:srgbClr val="C9C0B4"/>
                      </a:solidFill>
                      <a:prstDash val="solid"/>
                    </a:lnR>
                    <a:lnT w="9525" cap="flat" cmpd="sng" algn="ctr">
                      <a:solidFill>
                        <a:srgbClr val="C9C0B4"/>
                      </a:solidFill>
                      <a:prstDash val="solid"/>
                    </a:lnT>
                    <a:lnB w="9525" cap="flat" cmpd="sng" algn="ctr">
                      <a:solidFill>
                        <a:srgbClr val="C9C0B4"/>
                      </a:solidFill>
                      <a:prstDash val="solid"/>
                    </a:lnB>
                    <a:solidFill>
                      <a:srgbClr val="F5F1EC"/>
                    </a:solidFill>
                  </a:tcPr>
                </a:tc>
              </a:tr>
            </a:tbl>
          </a:graphicData>
        </a:graphic>
      </p:graphicFrame>
      <p:sp>
        <p:nvSpPr>
          <p:cNvPr id="6" name="tb6"/>
          <p:cNvSpPr txBox="1"/>
          <p:nvPr/>
        </p:nvSpPr>
        <p:spPr>
          <a:xfrm>
            <a:off x="822960" y="5257800"/>
            <a:ext cx="10607040" cy="10058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ctr" lvl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i="0" dirty="0">
                <a:solidFill>
                  <a:srgbClr val="2B2B2B"/>
                </a:solidFill>
                <a:latin typeface="Calibri"/>
              </a:rPr>
              <a:t>Database models (Prisma schema): Admin  ·  CoffeeCommodity  ·  ContactSubmission  ·  SiteContent  ·  SiteSetting</a:t>
            </a:r>
          </a:p>
          <a:p>
            <a:pPr marL="0" algn="ct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6B7280"/>
                </a:solidFill>
                <a:latin typeface="Calibri"/>
              </a:rPr>
              <a:t>CUID primary keys, required fields, unique constraints and default values; client and server architecture with public and admin API routes.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Website Screenshots — Figures 1–4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pic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3333324" cy="4709160"/>
          </a:xfrm>
          <a:prstGeom prst="rect">
            <a:avLst/>
          </a:prstGeom>
          <a:ln>
            <a:noFill/>
          </a:ln>
        </p:spPr>
      </p:pic>
      <p:pic>
        <p:nvPicPr>
          <p:cNvPr id="6" name="pic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004" y="1463040"/>
            <a:ext cx="3333324" cy="4709160"/>
          </a:xfrm>
          <a:prstGeom prst="rect">
            <a:avLst/>
          </a:prstGeom>
          <a:ln>
            <a:noFill/>
          </a:ln>
        </p:spPr>
      </p:pic>
      <p:sp>
        <p:nvSpPr>
          <p:cNvPr id="7" name="tb7"/>
          <p:cNvSpPr txBox="1"/>
          <p:nvPr/>
        </p:nvSpPr>
        <p:spPr>
          <a:xfrm>
            <a:off x="7909560" y="1463040"/>
            <a:ext cx="3886200" cy="470916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1: Homepage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2: About page — dark mode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3: Ethiopian coffee origins interactive map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4: Services page in dark mode — Amharic version</a:t>
            </a:r>
          </a:p>
        </p:txBody>
      </p:sp>
      <p:sp>
        <p:nvSpPr>
          <p:cNvPr id="8" name="rc8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b9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Website Screenshots — Figures 5–8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pic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3333324" cy="4709160"/>
          </a:xfrm>
          <a:prstGeom prst="rect">
            <a:avLst/>
          </a:prstGeom>
          <a:ln>
            <a:noFill/>
          </a:ln>
        </p:spPr>
      </p:pic>
      <p:pic>
        <p:nvPicPr>
          <p:cNvPr id="6" name="pic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004" y="1463040"/>
            <a:ext cx="3333324" cy="4709160"/>
          </a:xfrm>
          <a:prstGeom prst="rect">
            <a:avLst/>
          </a:prstGeom>
          <a:ln>
            <a:noFill/>
          </a:ln>
        </p:spPr>
      </p:pic>
      <p:sp>
        <p:nvSpPr>
          <p:cNvPr id="7" name="tb7"/>
          <p:cNvSpPr txBox="1"/>
          <p:nvPr/>
        </p:nvSpPr>
        <p:spPr>
          <a:xfrm>
            <a:off x="7909560" y="1463040"/>
            <a:ext cx="3886200" cy="470916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5: Origins page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6: Contact page and embedded map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7: From the Field video gallery — Amharic version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8: Our Team page</a:t>
            </a:r>
          </a:p>
        </p:txBody>
      </p:sp>
      <p:sp>
        <p:nvSpPr>
          <p:cNvPr id="8" name="rc8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b9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Admin Panel and Partners — Figures 9–12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pic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3333324" cy="4709160"/>
          </a:xfrm>
          <a:prstGeom prst="rect">
            <a:avLst/>
          </a:prstGeom>
          <a:ln>
            <a:noFill/>
          </a:ln>
        </p:spPr>
      </p:pic>
      <p:pic>
        <p:nvPicPr>
          <p:cNvPr id="6" name="pic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004" y="1463040"/>
            <a:ext cx="3333324" cy="4709160"/>
          </a:xfrm>
          <a:prstGeom prst="rect">
            <a:avLst/>
          </a:prstGeom>
          <a:ln>
            <a:noFill/>
          </a:ln>
        </p:spPr>
      </p:pic>
      <p:sp>
        <p:nvSpPr>
          <p:cNvPr id="7" name="tb7"/>
          <p:cNvSpPr txBox="1"/>
          <p:nvPr/>
        </p:nvSpPr>
        <p:spPr>
          <a:xfrm>
            <a:off x="7909560" y="1463040"/>
            <a:ext cx="3886200" cy="470916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9: BCS Coffee Admin — login page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10: Admin dashboard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11: Admin commodities management</a:t>
            </a:r>
          </a:p>
          <a:p>
            <a:pPr marL="0" algn="l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Figure 12: Our Partners section with scrolling logos</a:t>
            </a:r>
          </a:p>
        </p:txBody>
      </p:sp>
      <p:sp>
        <p:nvSpPr>
          <p:cNvPr id="8" name="rc8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b9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Benefits Gained — Practical Technical Skills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Frontend, Styling and UI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React: writing reusable components, organizing a front-end application, declaring component state, handling UI events and implementing client-side routing.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TypeScript: declaring interfaces and types, and using type checking — type safety catches errors during development and eases maintenance.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Responsive design with Tailwind CSS: responsive breakpoints, flexible layouts, and adapting navigation, grids, spacing and typography for mobile and desktop.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UI and theme development: visual consistency across pages and alignment of functionality with visual design for a consistent user experience.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Full-Stack, Tooling and Soft Skills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Full-stack understanding: how a frontend makes asynchronous requests to the backend and handles successful and unsuccessful responses.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Database and data handling: storing structured data in a relational database with models and retrieving it through backend services.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Git and GitHub: descriptive commits, change tracking, reviewing previous work and keeping a record of the development process.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Debugging and problem solving across routing, imports, styling, components and API calls.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Accessibility (semantic HTML, heading tags, alt texts, labels, ARIA) and SEO (page descriptions, Open Graph tags, sitemap).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Client communication: asking questions when requirements are unclear, listening to feedback and making corrections.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Benefits Gained — Theoretical Knowledge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Software Development Concepts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Software Development Life Cycle (SDLC): experienced requirements collection, planning, interface and structure design, implementation, testing and continuous development as an iterative process.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Requirements analysis: eliciting, validating and turning business requirements into technical requirements.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Client-server architecture: the frontend lets visitors interact with the website while the backend provides services — understood through the contact form and its API.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Database concepts: representing users, coffee commodities, contact submissions and website content as entities with attributes, data types, constraints and CRUD operations.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Web, Security and Business Concepts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APIs: understanding GET and POST requests — sending a request from a page in the app to the API and receiving a reply.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Web application architecture: single-page applications and client-side routing with React Router (no full page reload), plus separation of concerns through reusable components.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Information security: input validation, safe handling of user information and configuration values — security addressed through the whole development process, not only at the end.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UI/UX principles: consistency in colors, fonts, space and navigation; loading states, validation messages, accessible navigation and dark mode.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Information systems in business: the website as a means for the company to communicate, market and demonstrate its coffee services — the IS professional translates business needs into technology.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Communication, Teamwork and Leadership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c5"/>
          <p:cNvSpPr/>
          <p:nvPr/>
        </p:nvSpPr>
        <p:spPr>
          <a:xfrm>
            <a:off x="594360" y="1481328"/>
            <a:ext cx="3566160" cy="47091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c6"/>
          <p:cNvSpPr/>
          <p:nvPr/>
        </p:nvSpPr>
        <p:spPr>
          <a:xfrm>
            <a:off x="594360" y="1481328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731520" y="1627632"/>
            <a:ext cx="3291840" cy="44348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 i="0" dirty="0">
                <a:solidFill>
                  <a:srgbClr val="0F2A43"/>
                </a:solidFill>
                <a:latin typeface="Georgia"/>
              </a:rPr>
              <a:t>Communication Skills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Frequent discussions with the mentor about the website and the company's expectations.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Learned to explain technical information understandably: features, design decisions, limitations and their potential impact.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Feedback skill: listen carefully, understand what changes are required and implement them.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Gathered required content (services, coffee information, team details, contacts) through discussion.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Active listening, asking relevant questions, progress updates and professional discourse.</a:t>
            </a:r>
          </a:p>
        </p:txBody>
      </p:sp>
      <p:sp>
        <p:nvSpPr>
          <p:cNvPr id="8" name="rc8"/>
          <p:cNvSpPr/>
          <p:nvPr/>
        </p:nvSpPr>
        <p:spPr>
          <a:xfrm>
            <a:off x="4389120" y="1481328"/>
            <a:ext cx="3566160" cy="47091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c9"/>
          <p:cNvSpPr/>
          <p:nvPr/>
        </p:nvSpPr>
        <p:spPr>
          <a:xfrm>
            <a:off x="4389120" y="1481328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10"/>
          <p:cNvSpPr txBox="1"/>
          <p:nvPr/>
        </p:nvSpPr>
        <p:spPr>
          <a:xfrm>
            <a:off x="4526280" y="1627632"/>
            <a:ext cx="3291840" cy="44348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 i="0" dirty="0">
                <a:solidFill>
                  <a:srgbClr val="0F2A43"/>
                </a:solidFill>
                <a:latin typeface="Georgia"/>
              </a:rPr>
              <a:t>Team Playing Skills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Most development was individual, with frequent contact with my mentor and other team members.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Collaborated on collecting and researching content: services, coffee information and team information.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Modified my implementation as new information and different opinions emerged — more flexible and open-minded.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Shared work, recognized and used feedback, and stayed flexible to changing requirements.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Learned that teamwork is also about sharing the work and checking the big picture, and taking responsibility for the deliverable.</a:t>
            </a:r>
          </a:p>
        </p:txBody>
      </p:sp>
      <p:sp>
        <p:nvSpPr>
          <p:cNvPr id="11" name="rc11"/>
          <p:cNvSpPr/>
          <p:nvPr/>
        </p:nvSpPr>
        <p:spPr>
          <a:xfrm>
            <a:off x="8183879" y="1481328"/>
            <a:ext cx="3566160" cy="47091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c12"/>
          <p:cNvSpPr/>
          <p:nvPr/>
        </p:nvSpPr>
        <p:spPr>
          <a:xfrm>
            <a:off x="8183879" y="1481328"/>
            <a:ext cx="356616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8321040" y="1627632"/>
            <a:ext cx="3291840" cy="44348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 i="0" dirty="0">
                <a:solidFill>
                  <a:srgbClr val="0F2A43"/>
                </a:solidFill>
                <a:latin typeface="Georgia"/>
              </a:rPr>
              <a:t>Leadership Skills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Managed my own project and tasks autonomously — no formal team-lead role, but expected to take the lead on my tasks.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Initiative, planning, decision-making and responsibility: broke development into phases (learning, setup, pages, content, features, debugging).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Decision-making and problem-solving: diagnose the issue, research options, try different solutions and ask the mentor when needed.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Owned adaptation as project specifications evolved — editing or deleting content and features per requirements.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2B2B2B"/>
                </a:solidFill>
                <a:latin typeface="Calibri"/>
              </a:rPr>
              <a:t>Developed accountability, independent decision-making and awareness of when it is appropriate to seek help.</a:t>
            </a:r>
          </a:p>
        </p:txBody>
      </p:sp>
      <p:sp>
        <p:nvSpPr>
          <p:cNvPr id="14" name="rc14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b15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Work Ethics and Entrepreneurship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c5"/>
          <p:cNvSpPr/>
          <p:nvPr/>
        </p:nvSpPr>
        <p:spPr>
          <a:xfrm>
            <a:off x="548640" y="1481328"/>
            <a:ext cx="5440680" cy="47091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c6"/>
          <p:cNvSpPr/>
          <p:nvPr/>
        </p:nvSpPr>
        <p:spPr>
          <a:xfrm>
            <a:off x="548640" y="1481328"/>
            <a:ext cx="544068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685800" y="1627632"/>
            <a:ext cx="5166360" cy="44348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Understanding Work Ethics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Took full responsibility for my assigned work: checked code carefully, fixed problems I noticed and did my best to satisfy the mentor's requirements.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Code quality: meaningful names, well-structured elements, consistent code and use of TypeScript.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Responsibility and confidentiality: awareness of keeping sensitive information such as configuration values secure.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Git submissions created awareness of detailing changes, owning them and managing history.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Honesty and accountability: communicated challenges honestly, welcomed correction, asked for help when necessary and delivered on time.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Attention to accessibility, error handling, responsiveness, SEO and accuracy of information.</a:t>
            </a:r>
          </a:p>
        </p:txBody>
      </p:sp>
      <p:sp>
        <p:nvSpPr>
          <p:cNvPr id="8" name="rc8"/>
          <p:cNvSpPr/>
          <p:nvPr/>
        </p:nvSpPr>
        <p:spPr>
          <a:xfrm>
            <a:off x="6400800" y="1481328"/>
            <a:ext cx="5440680" cy="470916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c9"/>
          <p:cNvSpPr/>
          <p:nvPr/>
        </p:nvSpPr>
        <p:spPr>
          <a:xfrm>
            <a:off x="6400800" y="1481328"/>
            <a:ext cx="5440680" cy="45720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10"/>
          <p:cNvSpPr txBox="1"/>
          <p:nvPr/>
        </p:nvSpPr>
        <p:spPr>
          <a:xfrm>
            <a:off x="6537960" y="1627632"/>
            <a:ext cx="5166360" cy="443484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Developing Entrepreneurship Skills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Gained an understanding of working on a real business and how technology can solve its problems.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Learned that technological products are not only functional — they are value products for the business and its customers.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Assessed the business organization, its need for a professional website presence, and how the website could be an asset for the business.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Learned to think from a customer perspective and turn business concerns into technical proposals.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Produced minimal but professional information about coffee origins, grades, processing, packing and services.</a:t>
            </a:r>
          </a:p>
          <a:p>
            <a:pPr marL="274320" indent="-228600" algn="l" lvl="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2B2B2B"/>
                </a:solidFill>
                <a:latin typeface="Calibri"/>
              </a:rPr>
              <a:t>Developed business need analysis, customer analysis, value creation via technology, and designing solutions with maintainability and extendability in mind.</a:t>
            </a:r>
          </a:p>
        </p:txBody>
      </p:sp>
      <p:sp>
        <p:nvSpPr>
          <p:cNvPr id="11" name="rc11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12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0F2A43"/>
                </a:solidFill>
                <a:latin typeface="Georgia"/>
              </a:rPr>
              <a:t>Conclusion</a:t>
            </a:r>
          </a:p>
          <a:p>
            <a:pPr marL="274320" indent="-228600" algn="l" lvl="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Completed a two-month practical attachment (June 23 – August 22, 2026) in the Web Development section of BCS Computer and Finance Solution.</a:t>
            </a:r>
          </a:p>
          <a:p>
            <a:pPr marL="274320" indent="-228600" algn="l" lvl="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Developed a corporate website for BCS Coffee Market Consulting covering the full cycle: requirement analysis, planning, interface design, front-end and back-end development, database development, testing and a deployment draft.</a:t>
            </a:r>
          </a:p>
          <a:p>
            <a:pPr marL="274320" indent="-228600" algn="l" lvl="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Used React, TypeScript, Vite, Tailwind CSS and React Router to build responsive pages and reusable components, with a Node.js/Express backend, Prisma ORM and SQLite.</a:t>
            </a:r>
          </a:p>
          <a:p>
            <a:pPr marL="274320" indent="-228600" algn="l" lvl="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Implemented key features: dark and light themes, the interactive Ethiopian coffee origins map, contact form integration, search engine optimization, accessibility and responsive design.</a:t>
            </a:r>
          </a:p>
          <a:p>
            <a:pPr marL="274320" indent="-228600" algn="l" lvl="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Connected academic concepts — requirements analysis, system design, user interface design, client-server communication, software testing and version control — to real software development practice.</a:t>
            </a:r>
          </a:p>
          <a:p>
            <a:pPr marL="274320" indent="-228600" algn="l" lvl="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B2B2B"/>
                </a:solidFill>
                <a:latin typeface="Calibri"/>
              </a:rPr>
              <a:t>Gained confidence in self-motivated continuous learning and in troubleshooting unfamiliar issues.</a:t>
            </a:r>
          </a:p>
        </p:txBody>
      </p:sp>
      <p:sp>
        <p:nvSpPr>
          <p:cNvPr id="6" name="rc6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Recommendations for the Company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Content, Performance and Data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Keep website content regularly updated: services, coffee details, team members, contact details and pictures.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Optimize media: compress images and videos and use correct file formats to improve page speed, especially for users with slow internet connections.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Migrate from SQLite to a scalable database such as PostgreSQL when traffic and administrative demands increase, to handle higher concurrent requests.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Introduce regular backups of website data — database and configuration files — to protect against data loss from errors or system failure.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Introduce automated testing for critical parts: contact form, input validation and API communication.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537960" y="1508760"/>
            <a:ext cx="5120640" cy="47548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2A43"/>
                </a:solidFill>
                <a:latin typeface="Georgia"/>
              </a:rPr>
              <a:t>Operations and Digital Presence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Continuously monitor responses, loading speed, browser compatibility, content navigation and readability, image loading and keyboard navigation.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Focus on mobile users, since a majority of visitors tend to browse with mobile devices.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Provide periodic maintenance and deployment using version control, with quality checks — code standards, type errors, build pass/fail — before each release.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Strengthen the digital presence systematically: valuable coffee information, company news, career and industry content, and social links for the professionals.</a:t>
            </a:r>
          </a:p>
          <a:p>
            <a:pPr marL="274320" indent="-228600" algn="l" lvl="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2B2B2B"/>
                </a:solidFill>
                <a:latin typeface="Calibri"/>
              </a:rPr>
              <a:t>Deliver fresh content to consumers and international key buyers to enhance the company's existence in the digital environment.</a:t>
            </a:r>
          </a:p>
        </p:txBody>
      </p:sp>
      <p:sp>
        <p:nvSpPr>
          <p:cNvPr id="7" name="rc7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9" name="tb9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502920" y="128016"/>
            <a:ext cx="11247120" cy="960120"/>
          </a:xfrm>
          <a:prstGeom prst="rect">
            <a:avLst/>
          </a:prstGeom>
          <a:noFill/>
        </p:spPr>
        <p:txBody>
          <a:bodyPr wrap="square" anchor="ctr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sp>
        <p:nvSpPr>
          <p:cNvPr id="4" name="rc4"/>
          <p:cNvSpPr/>
          <p:nvPr/>
        </p:nvSpPr>
        <p:spPr>
          <a:xfrm>
            <a:off x="0" y="1234440"/>
            <a:ext cx="12191695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500000" indent="-500000" algn="l" lvl="0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700" b="1" i="0" dirty="0">
                <a:solidFill>
                  <a:srgbClr val="A9673A"/>
                </a:solidFill>
                <a:latin typeface="Calibri"/>
              </a:rPr>
              <a:t>1.   </a:t>
            </a:r>
            <a:r>
              <a:rPr lang="en-US" sz="1700" b="0" i="0" dirty="0">
                <a:solidFill>
                  <a:srgbClr val="2B2B2B"/>
                </a:solidFill>
                <a:latin typeface="Calibri"/>
              </a:rPr>
              <a:t>BCS Computer and Finance Solution. (2026). Company information and practical attachment guidance.</a:t>
            </a:r>
          </a:p>
          <a:p>
            <a:pPr marL="500000" indent="-500000" algn="l" lvl="0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700" b="1" i="0" dirty="0">
                <a:solidFill>
                  <a:srgbClr val="A9673A"/>
                </a:solidFill>
                <a:latin typeface="Calibri"/>
              </a:rPr>
              <a:t>2.   </a:t>
            </a:r>
            <a:r>
              <a:rPr lang="en-US" sz="1700" b="0" i="0" dirty="0">
                <a:solidFill>
                  <a:srgbClr val="2B2B2B"/>
                </a:solidFill>
                <a:latin typeface="Calibri"/>
              </a:rPr>
              <a:t>BCS Coffee Market Consulting. (2026). Company information, coffee industry content, services, and business requirements provided during the website development project.</a:t>
            </a:r>
          </a:p>
          <a:p>
            <a:pPr marL="0" algn="l" lv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6B7280"/>
                </a:solidFill>
                <a:latin typeface="Calibri"/>
              </a:rPr>
              <a:t>Additional project materials — folder structure, database schema, API summary, technology stack and configuration — are included in the appendices of the submitted report.</a:t>
            </a:r>
          </a:p>
        </p:txBody>
      </p:sp>
      <p:sp>
        <p:nvSpPr>
          <p:cNvPr id="6" name="rc6"/>
          <p:cNvSpPr/>
          <p:nvPr/>
        </p:nvSpPr>
        <p:spPr>
          <a:xfrm>
            <a:off x="502920" y="6400800"/>
            <a:ext cx="11183112" cy="12801"/>
          </a:xfrm>
          <a:prstGeom prst="rect">
            <a:avLst/>
          </a:prstGeom>
          <a:solidFill>
            <a:srgbClr val="D9D2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502920" y="6428232"/>
            <a:ext cx="9144000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l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8A8A8A"/>
                </a:solidFill>
                <a:latin typeface="Calibri"/>
              </a:rPr>
              <a:t>Practical Attachment Report  ·  BCS Computer and Finance Solution  ·  June 23 – August 22, 2026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789920" y="6428232"/>
            <a:ext cx="896112" cy="310896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8A8A8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3"/>
          <p:cNvSpPr txBox="1"/>
          <p:nvPr/>
        </p:nvSpPr>
        <p:spPr>
          <a:xfrm>
            <a:off x="914400" y="2103120"/>
            <a:ext cx="10360152" cy="137160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ct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dirty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4" name="rc4"/>
          <p:cNvSpPr/>
          <p:nvPr/>
        </p:nvSpPr>
        <p:spPr>
          <a:xfrm>
            <a:off x="5184648" y="3611880"/>
            <a:ext cx="1828800" cy="50292"/>
          </a:xfrm>
          <a:prstGeom prst="rect">
            <a:avLst/>
          </a:prstGeom>
          <a:solidFill>
            <a:srgbClr val="A967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ct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dirty="0">
                <a:solidFill>
                  <a:srgbClr val="E8DED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b6"/>
          <p:cNvSpPr txBox="1"/>
          <p:nvPr/>
        </p:nvSpPr>
        <p:spPr>
          <a:xfrm>
            <a:off x="914400" y="4937760"/>
            <a:ext cx="10360152" cy="1097280"/>
          </a:xfrm>
          <a:prstGeom prst="rect">
            <a:avLst/>
          </a:prstGeom>
          <a:noFill/>
        </p:spPr>
        <p:txBody>
          <a:bodyPr wrap="square" anchor="t" rtlCol="0">
            <a:normAutofit/>
          </a:bodyPr>
          <a:lstStyle/>
          <a:p>
            <a:pPr marL="0" algn="ctr" lvl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Tsion Tesfaye  ·  Student ID 3725/16  ·  Department of Information Systems</a:t>
            </a:r>
          </a:p>
          <a:p>
            <a:pPr marL="0" algn="ctr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B9C4CF"/>
                </a:solidFill>
                <a:latin typeface="Calibri"/>
              </a:rPr>
              <a:t>Practical Attachment at BCS Computer and Finance Solution  ·  June 23 – August 22,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S Theme">
  <a:themeElements>
    <a:clrScheme name="BCS">
      <a:dk1>
        <a:srgbClr val="1A1A1A"/>
      </a:dk1>
      <a:lt1>
        <a:srgbClr val="FFFFFF"/>
      </a:lt1>
      <a:dk2>
        <a:srgbClr val="0F2A43"/>
      </a:dk2>
      <a:lt2>
        <a:srgbClr val="F5F1EC"/>
      </a:lt2>
      <a:accent1>
        <a:srgbClr val="A9673A"/>
      </a:accent1>
      <a:accent2>
        <a:srgbClr val="1F6F54"/>
      </a:accent2>
      <a:accent3>
        <a:srgbClr val="C9A227"/>
      </a:accent3>
      <a:accent4>
        <a:srgbClr val="5B7C99"/>
      </a:accent4>
      <a:accent5>
        <a:srgbClr val="8B5E3C"/>
      </a:accent5>
      <a:accent6>
        <a:srgbClr val="6E7B8B"/>
      </a:accent6>
      <a:hlink>
        <a:srgbClr val="0563C1"/>
      </a:hlink>
      <a:folHlink>
        <a:srgbClr val="954F72"/>
      </a:folHlink>
    </a:clrScheme>
    <a:fontScheme name="BCS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Practical Attachment Presentation — Full-Stack Web Application</dc:title>
  <dc:creator>Tsion Tesfaye</dc:creator>
  <cp:lastModifiedBy>Tsion Tesfaye</cp:lastModifiedBy>
  <dcterms:created xsi:type="dcterms:W3CDTF">2026-09-23T00:00:00Z</dcterms:created>
  <dcterms:modified xsi:type="dcterms:W3CDTF">2026-09-23T00:00:00Z</dcterms:modified>
</cp:coreProperties>
</file>